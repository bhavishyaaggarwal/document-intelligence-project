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Document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AI Engineer Internship — Technical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End-to-end document upload, OCR, structured extraction, financial validation and persistence.</a:t>
            </a:r>
          </a:p>
          <a:p>
            <a:pPr>
              <a:spcAft>
                <a:spcPts val="900"/>
              </a:spcAft>
              <a:defRPr sz="2200"/>
            </a:pPr>
            <a:r>
              <a:t>Four supported types: invoice, balance sheet, profit &amp; loss, cash flow statement.</a:t>
            </a:r>
          </a:p>
          <a:p>
            <a:pPr>
              <a:spcAft>
                <a:spcPts val="900"/>
              </a:spcAft>
              <a:defRPr sz="2200"/>
            </a:pPr>
            <a:r>
              <a:t>Designed as a practical 3-day assessment project: modular, testable and deployable.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the supplied files revealed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20 invoice JPGs: thermal receipts, photographed/rotated receipts, low-contrast scans and clean business invoices.</a:t>
            </a:r>
          </a:p>
          <a:p>
            <a:pPr>
              <a:spcAft>
                <a:spcPts val="900"/>
              </a:spcAft>
              <a:defRPr sz="1900"/>
            </a:pPr>
            <a:r>
              <a:t>30 financial PDFs covering 2017–2026 across three statement types.</a:t>
            </a:r>
          </a:p>
          <a:p>
            <a:pPr>
              <a:spcAft>
                <a:spcPts val="900"/>
              </a:spcAft>
              <a:defRPr sz="1900"/>
            </a:pPr>
            <a:r>
              <a:t>Financial statements commonly contain comparative periods; cash-flow files range from 1 to 2 pages.</a:t>
            </a:r>
          </a:p>
          <a:p>
            <a:pPr>
              <a:spcAft>
                <a:spcPts val="900"/>
              </a:spcAft>
              <a:defRPr sz="1900"/>
            </a:pPr>
            <a:r>
              <a:t>Most financial PDFs are image-based and require OCR; at least one supplied cash-flow PDF exposes selectable text.</a:t>
            </a:r>
          </a:p>
          <a:p>
            <a:pPr>
              <a:spcAft>
                <a:spcPts val="900"/>
              </a:spcAft>
              <a:defRPr sz="1900"/>
            </a:pPr>
            <a:r>
              <a:t>Layouts, units and tax presentation vary, so extraction cannot be filename- or template-hardcoded.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Separation of extraction, validation and persistence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Extraction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1. Validate file type, integrity, readability and the 3-page limit.</a:t>
            </a:r>
          </a:p>
          <a:p>
            <a:pPr>
              <a:spcAft>
                <a:spcPts val="900"/>
              </a:spcAft>
              <a:defRPr sz="1800"/>
            </a:pPr>
            <a:r>
              <a:t>2. Prefer native PDF text when sufficient; otherwise render pages and run Tesseract OCR.</a:t>
            </a:r>
          </a:p>
          <a:p>
            <a:pPr>
              <a:spcAft>
                <a:spcPts val="900"/>
              </a:spcAft>
              <a:defRPr sz="1800"/>
            </a:pPr>
            <a:r>
              <a:t>3. Attempt orientation correction for difficult images.</a:t>
            </a:r>
          </a:p>
          <a:p>
            <a:pPr>
              <a:spcAft>
                <a:spcPts val="900"/>
              </a:spcAft>
              <a:defRPr sz="1800"/>
            </a:pPr>
            <a:r>
              <a:t>4. With OPENAI_API_KEY configured, send OCR text plus page images to a vision-capable model for structured extraction.</a:t>
            </a:r>
          </a:p>
          <a:p>
            <a:pPr>
              <a:spcAft>
                <a:spcPts val="900"/>
              </a:spcAft>
              <a:defRPr sz="1800"/>
            </a:pPr>
            <a:r>
              <a:t>5. Validate the returned structure with Pydantic; use a conservative OCR parser only as a fallback.</a:t>
            </a:r>
          </a:p>
          <a:p>
            <a:pPr>
              <a:spcAft>
                <a:spcPts val="900"/>
              </a:spcAft>
              <a:defRPr sz="1800"/>
            </a:pPr>
            <a:r>
              <a:t>6. Missing or unreadable values are null rather than invented.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Financial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Invoice: quantity × unit price, line-item subtotal, subtotal + tax − discount, cash paid − total = change where inputs exist.</a:t>
            </a:r>
          </a:p>
          <a:p>
            <a:pPr>
              <a:spcAft>
                <a:spcPts val="900"/>
              </a:spcAft>
              <a:defRPr sz="1700"/>
            </a:pPr>
            <a:r>
              <a:t>Balance Sheet: capital &amp; liabilities ≈ assets, independently by period.</a:t>
            </a:r>
          </a:p>
          <a:p>
            <a:pPr>
              <a:spcAft>
                <a:spcPts val="900"/>
              </a:spcAft>
              <a:defRPr sz="1700"/>
            </a:pPr>
            <a:r>
              <a:t>Profit &amp; Loss: income, expenditure and minority-interest relationships from the case study.</a:t>
            </a:r>
          </a:p>
          <a:p>
            <a:pPr>
              <a:spcAft>
                <a:spcPts val="900"/>
              </a:spcAft>
              <a:defRPr sz="1700"/>
            </a:pPr>
            <a:r>
              <a:t>Cash Flow: operating + investing + financing + FX ≈ net change; opening + net change ≈ closing.</a:t>
            </a:r>
          </a:p>
          <a:p>
            <a:pPr>
              <a:spcAft>
                <a:spcPts val="900"/>
              </a:spcAft>
              <a:defRPr sz="1700"/>
            </a:pPr>
            <a:r>
              <a:t>Every check reports formula, operands, calculated value, reported value, variance and PASS/FAIL/NOT_APPLICABLE.</a:t>
            </a:r>
          </a:p>
          <a:p>
            <a:pPr>
              <a:spcAft>
                <a:spcPts val="900"/>
              </a:spcAft>
              <a:defRPr sz="1700"/>
            </a:pPr>
            <a:r>
              <a:t>Parenthesized values are parsed as negative; missing inputs are never assumed.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POST /api/v1/documents/process — multipart file + document_type.</a:t>
            </a:r>
          </a:p>
          <a:p>
            <a:pPr>
              <a:spcAft>
                <a:spcPts val="900"/>
              </a:spcAft>
              <a:defRPr sz="1900"/>
            </a:pPr>
            <a:r>
              <a:t>GET /api/v1/documents/{document_name} — latest stored result.</a:t>
            </a:r>
          </a:p>
          <a:p>
            <a:pPr>
              <a:spcAft>
                <a:spcPts val="900"/>
              </a:spcAft>
              <a:defRPr sz="1900"/>
            </a:pPr>
            <a:r>
              <a:t>GET /api/v1/documents — dashboard list.</a:t>
            </a:r>
          </a:p>
          <a:p>
            <a:pPr>
              <a:spcAft>
                <a:spcPts val="900"/>
              </a:spcAft>
              <a:defRPr sz="1900"/>
            </a:pPr>
            <a:r>
              <a:t>GET /api/v1/health — deployment health check.</a:t>
            </a:r>
          </a:p>
          <a:p>
            <a:pPr>
              <a:spcAft>
                <a:spcPts val="900"/>
              </a:spcAft>
              <a:defRPr sz="1900"/>
            </a:pPr>
            <a:r>
              <a:t>FastAPI provides Swagger/OpenAPI automatically at /docs.</a:t>
            </a:r>
          </a:p>
          <a:p>
            <a:pPr>
              <a:spcAft>
                <a:spcPts val="900"/>
              </a:spcAft>
              <a:defRPr sz="1900"/>
            </a:pPr>
            <a:r>
              <a:t>SQLAlchemy repository persists validation, extraction and processing metadata; document name is upserted to return the latest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&amp; engineering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Automated tests cover upload validation, empty/unsupported files, financial calculations, negative values, NOT_APPLICABLE, extraction schema and API health/upload flow.</a:t>
            </a:r>
          </a:p>
          <a:p>
            <a:pPr>
              <a:spcAft>
                <a:spcPts val="900"/>
              </a:spcAft>
              <a:defRPr sz="1800"/>
            </a:pPr>
            <a:r>
              <a:t>Local verification completed: 8 automated tests passed.</a:t>
            </a:r>
          </a:p>
          <a:p>
            <a:pPr>
              <a:spcAft>
                <a:spcPts val="900"/>
              </a:spcAft>
              <a:defRPr sz="1800"/>
            </a:pPr>
            <a:r>
              <a:t>Live local smoke test verified health, frontend HTML, static CSS, POST processing, GET-by-name and dashboard list endpoints.</a:t>
            </a:r>
          </a:p>
          <a:p>
            <a:pPr>
              <a:spcAft>
                <a:spcPts val="900"/>
              </a:spcAft>
              <a:defRPr sz="1800"/>
            </a:pPr>
            <a:r>
              <a:t>Dataset samples were actually OCR-processed; the difficult rotated receipt demonstrates the limitation of a Tesseract-only fallback.</a:t>
            </a:r>
          </a:p>
          <a:p>
            <a:pPr>
              <a:spcAft>
                <a:spcPts val="900"/>
              </a:spcAft>
              <a:defRPr sz="1800"/>
            </a:pPr>
            <a:r>
              <a:t>No secrets, fabricated metrics, hardcoded dataset answers or fake deployment URLs are included.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Deployment &amp; interview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Containerized deployment includes Tesseract and a production Uvicorn startup command.</a:t>
            </a:r>
          </a:p>
          <a:p>
            <a:pPr>
              <a:spcAft>
                <a:spcPts val="900"/>
              </a:spcAft>
              <a:defRPr sz="1800"/>
            </a:pPr>
            <a:r>
              <a:t>OPENAI_API_KEY and DATABASE_URL are environment-configured; no secrets are committed.</a:t>
            </a:r>
          </a:p>
          <a:p>
            <a:pPr>
              <a:spcAft>
                <a:spcPts val="900"/>
              </a:spcAft>
              <a:defRPr sz="1800"/>
            </a:pPr>
            <a:r>
              <a:t>Use a durable managed PostgreSQL database for a deployment where the filesystem is ephemeral.</a:t>
            </a:r>
          </a:p>
          <a:p>
            <a:pPr>
              <a:spcAft>
                <a:spcPts val="900"/>
              </a:spcAft>
              <a:defRPr sz="1800"/>
            </a:pPr>
            <a:r>
              <a:t>Demo flow: choose document type → upload → process → inspect evidence and tables → inspect validation → open raw JSON.</a:t>
            </a:r>
          </a:p>
          <a:p>
            <a:pPr>
              <a:spcAft>
                <a:spcPts val="900"/>
              </a:spcAft>
              <a:defRPr sz="1800"/>
            </a:pPr>
            <a:r>
              <a:t>Be ready to explain why OCR is needed, why the LLM receives both OCR text and images, how missing values are handled, and why financial validation is independent from extraction.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Severely degraded or rotated receipts can exceed Tesseract fallback accuracy.</a:t>
            </a:r>
          </a:p>
          <a:p>
            <a:pPr>
              <a:spcAft>
                <a:spcPts val="900"/>
              </a:spcAft>
              <a:defRPr sz="1900"/>
            </a:pPr>
            <a:r>
              <a:t>High-accuracy multimodal extraction requires a configured compatible LLM API.</a:t>
            </a:r>
          </a:p>
          <a:p>
            <a:pPr>
              <a:spcAft>
                <a:spcPts val="900"/>
              </a:spcAft>
              <a:defRPr sz="1900"/>
            </a:pPr>
            <a:r>
              <a:t>Production version should add durable object storage, managed PostgreSQL, queues, rate limits, authentication, OCR bounding boxes and human review.</a:t>
            </a:r>
          </a:p>
          <a:p>
            <a:pPr>
              <a:spcAft>
                <a:spcPts val="900"/>
              </a:spcAft>
              <a:defRPr sz="1900"/>
            </a:pPr>
            <a:r>
              <a:t>Deployment URLs are intentionally placeholders until a real deployment is created and verified.</a:t>
            </a:r>
          </a:p>
          <a:p>
            <a:pPr>
              <a:spcAft>
                <a:spcPts val="900"/>
              </a:spcAft>
              <a:defRPr sz="1900"/>
            </a:pPr>
            <a:r>
              <a:t>AI coding assistants were used for drafting, debugging, test review and documentation, consistent with the assessment's permitted-use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